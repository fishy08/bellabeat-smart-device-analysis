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-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6749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731520"/>
            <a:ext cx="2926080" cy="2926080"/>
          </a:xfrm>
          <a:prstGeom prst="ellipse">
            <a:avLst/>
          </a:prstGeom>
          <a:solidFill>
            <a:srgbClr val="52B788">
              <a:alpha val="15000"/>
            </a:srgbClr>
          </a:solidFill>
          <a:ln w="12700">
            <a:solidFill>
              <a:srgbClr val="52B78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200400"/>
            <a:ext cx="2011680" cy="2011680"/>
          </a:xfrm>
          <a:prstGeom prst="ellipse">
            <a:avLst/>
          </a:prstGeom>
          <a:solidFill>
            <a:srgbClr val="C9848A">
              <a:alpha val="15000"/>
            </a:srgbClr>
          </a:solidFill>
          <a:ln w="12700">
            <a:solidFill>
              <a:srgbClr val="C9848A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DATA ANALYTICS CAPSTONE PROJECT·  BELLABEAT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6583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Bellabeat Smart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Device Analysis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65760" y="310896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consumers use smart wellness devices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it means for Bellabeat Leaf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49440" y="1371600"/>
            <a:ext cx="1920240" cy="210312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  <a:effectLst>
            <a:outerShdw blurRad="228600" dist="635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49440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949440" y="2148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FitBit users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0" y="27889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DAYS OF DATA</a:t>
            </a:r>
            <a:endParaRPr lang="en-US" sz="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9037FC-2974-0F63-D5A7-C1540DD1846B}"/>
              </a:ext>
            </a:extLst>
          </p:cNvPr>
          <p:cNvSpPr txBox="1"/>
          <p:nvPr/>
        </p:nvSpPr>
        <p:spPr>
          <a:xfrm>
            <a:off x="365760" y="4067294"/>
            <a:ext cx="4582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Francis Muthukkalai 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&amp; Business Task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1430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228600" dist="635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11430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863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"Analyze smart device usage data to gain insight into how consumers use non-Bellabeat smart devices — then apply these insights to one Bellabeat product."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Urška Sršen, Co-founder &amp; CCO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D3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697480"/>
            <a:ext cx="260604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81635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3127248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Bellabeat is a high-tech wellness company for women, founded in 2013. Products track activity, sleep, stress and reproductive health.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269748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D3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2697480"/>
            <a:ext cx="260604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281635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0712" y="3127248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Bellabeat has potential to become a major player in the global smart device market. Consumer behaviour insights will unlock growth.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69748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D3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697480"/>
            <a:ext cx="260604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281635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99632" y="3127248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FitBit user data to find trends in smart device usage — then applying findings to the Bellabeat Leaf wellness tracker.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 — Data Source &amp; Limitations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4747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228600" dist="635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361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FitBit Fitness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Tracker Data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Source: Kaggle — CC0 Public Domain (Möbius)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181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33 eligible FitBit users, April–May 2016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5387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Includes daily activity, hourly steps, sleep and weight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9593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Minute-level data available but not used — daily/hourly sufficient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D3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5361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8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920240"/>
            <a:ext cx="54864" cy="594360"/>
          </a:xfrm>
          <a:prstGeom prst="rect">
            <a:avLst/>
          </a:prstGeom>
          <a:solidFill>
            <a:srgbClr val="C9848A"/>
          </a:solidFill>
          <a:ln w="12700">
            <a:solidFill>
              <a:srgbClr val="C984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9476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size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33 users — not statistically representative of the broader population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670048"/>
            <a:ext cx="54864" cy="594360"/>
          </a:xfrm>
          <a:prstGeom prst="rect">
            <a:avLst/>
          </a:prstGeom>
          <a:solidFill>
            <a:srgbClr val="C9848A"/>
          </a:solidFill>
          <a:ln w="12700">
            <a:solidFill>
              <a:srgbClr val="C984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697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29443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2016 — smart device usage patterns have evolved significantly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419856"/>
            <a:ext cx="54864" cy="594360"/>
          </a:xfrm>
          <a:prstGeom prst="rect">
            <a:avLst/>
          </a:prstGeom>
          <a:solidFill>
            <a:srgbClr val="C9848A"/>
          </a:solidFill>
          <a:ln w="12700">
            <a:solidFill>
              <a:srgbClr val="C984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4472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demographics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6941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age, gender or location data — cannot confirm users are Bellabeat's target audience (women)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4169664"/>
            <a:ext cx="54864" cy="594360"/>
          </a:xfrm>
          <a:prstGeom prst="rect">
            <a:avLst/>
          </a:prstGeom>
          <a:solidFill>
            <a:srgbClr val="C9848A"/>
          </a:solidFill>
          <a:ln w="12700">
            <a:solidFill>
              <a:srgbClr val="C984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419709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&amp; weight gaps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44439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24 of 33 users tracked sleep. Only 8 tracked weight — these findings less reliable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— Assumptions &amp; Decisions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BigQuery (SQL) — chosen for handling ~22,000 hourly records.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D3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64008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82880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duplicate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1856232"/>
            <a:ext cx="914400" cy="173736"/>
          </a:xfrm>
          <a:prstGeom prst="roundRect">
            <a:avLst>
              <a:gd name="adj" fmla="val 1578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856232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21792" y="2075688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removed duplicate data from sleep activity data.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D3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23160"/>
            <a:ext cx="64008" cy="566928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46888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nulls in Fat column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97480" y="2496312"/>
            <a:ext cx="914400" cy="173736"/>
          </a:xfrm>
          <a:prstGeom prst="roundRect">
            <a:avLst>
              <a:gd name="adj" fmla="val 15789"/>
            </a:avLst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2496312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21792" y="2715768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of Fat column null — only 2 users had smart scales. Column excluded from analysis entirely.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D3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63240"/>
            <a:ext cx="64008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10896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invalid activity days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97480" y="3136392"/>
            <a:ext cx="914400" cy="173736"/>
          </a:xfrm>
          <a:prstGeom prst="roundRect">
            <a:avLst>
              <a:gd name="adj" fmla="val 1578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3136392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21792" y="3355848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steps + 1440 sedentary minutes = device not worn. Confirmed by BMR-only calories (~1347). Removed from daily activity data.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D3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703320"/>
            <a:ext cx="64008" cy="56692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74904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date formats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97480" y="3776472"/>
            <a:ext cx="914400" cy="173736"/>
          </a:xfrm>
          <a:prstGeom prst="roundRect">
            <a:avLst>
              <a:gd name="adj" fmla="val 15789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97480" y="3776472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21792" y="3995928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FitBit exported two formats (MM/dd/yyyy AM/PM and MM-dd-yyyy HH:MM). Standardised to TIMESTAMP.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34340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D3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4343400"/>
            <a:ext cx="64008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438912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Sedentary includes sleep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97480" y="4416552"/>
            <a:ext cx="914400" cy="173736"/>
          </a:xfrm>
          <a:prstGeom prst="roundRect">
            <a:avLst>
              <a:gd name="adj" fmla="val 15789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97480" y="4416552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1792" y="4636008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FitBit records sleep as sedentary. Absolute values reflect 24hr inactivity. Analysis focuses on relative differences between segments.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tells us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51760" cy="1600200"/>
          </a:xfrm>
          <a:prstGeom prst="rect">
            <a:avLst/>
          </a:prstGeom>
          <a:solidFill>
            <a:srgbClr val="0D2818"/>
          </a:solidFill>
          <a:ln w="12700">
            <a:solidFill>
              <a:srgbClr val="C9848A"/>
            </a:solidFill>
            <a:prstDash val="solid"/>
          </a:ln>
          <a:effectLst>
            <a:outerShdw blurRad="228600" dist="635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2651760" cy="64008"/>
          </a:xfrm>
          <a:prstGeom prst="rect">
            <a:avLst/>
          </a:prstGeom>
          <a:solidFill>
            <a:srgbClr val="C9848A"/>
          </a:solidFill>
          <a:ln w="12700">
            <a:solidFill>
              <a:srgbClr val="C984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84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8,329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1305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steps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4048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below WHO 10K goal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51760" cy="1600200"/>
          </a:xfrm>
          <a:prstGeom prst="rect">
            <a:avLst/>
          </a:prstGeom>
          <a:solidFill>
            <a:srgbClr val="0D2818"/>
          </a:solidFill>
          <a:ln w="12700">
            <a:solidFill>
              <a:srgbClr val="D4A853"/>
            </a:solidFill>
            <a:prstDash val="solid"/>
          </a:ln>
          <a:effectLst>
            <a:outerShdw blurRad="228600" dist="635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417320"/>
            <a:ext cx="2651760" cy="64008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554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15.9hrs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21305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sedentary/day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4048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 of 24hr day inactive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651760" cy="1600200"/>
          </a:xfrm>
          <a:prstGeom prst="rect">
            <a:avLst/>
          </a:prstGeom>
          <a:solidFill>
            <a:srgbClr val="0D2818"/>
          </a:solidFill>
          <a:ln w="12700">
            <a:solidFill>
              <a:srgbClr val="52B788"/>
            </a:solidFill>
            <a:prstDash val="solid"/>
          </a:ln>
          <a:effectLst>
            <a:outerShdw blurRad="228600" dist="635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417320"/>
            <a:ext cx="265176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554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7.0hrs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63640" y="21305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sleep/night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24048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recommended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2651760" cy="1600200"/>
          </a:xfrm>
          <a:prstGeom prst="rect">
            <a:avLst/>
          </a:prstGeom>
          <a:solidFill>
            <a:srgbClr val="0D2818"/>
          </a:solidFill>
          <a:ln w="12700">
            <a:solidFill>
              <a:srgbClr val="C9848A"/>
            </a:solidFill>
            <a:prstDash val="solid"/>
          </a:ln>
          <a:effectLst>
            <a:outerShdw blurRad="228600" dist="635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200400"/>
            <a:ext cx="2651760" cy="64008"/>
          </a:xfrm>
          <a:prstGeom prst="rect">
            <a:avLst/>
          </a:prstGeom>
          <a:solidFill>
            <a:srgbClr val="C9848A"/>
          </a:solidFill>
          <a:ln w="12700">
            <a:solidFill>
              <a:srgbClr val="C984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375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84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 mins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02920" y="39136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awake in bed nightly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1879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sleep quality signal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3200400"/>
            <a:ext cx="2651760" cy="1600200"/>
          </a:xfrm>
          <a:prstGeom prst="rect">
            <a:avLst/>
          </a:prstGeom>
          <a:solidFill>
            <a:srgbClr val="0D2818"/>
          </a:solidFill>
          <a:ln w="12700">
            <a:solidFill>
              <a:srgbClr val="D4A853"/>
            </a:solidFill>
            <a:prstDash val="solid"/>
          </a:ln>
          <a:effectLst>
            <a:outerShdw blurRad="228600" dist="635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3200400"/>
            <a:ext cx="2651760" cy="64008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3375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78.7%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383280" y="39136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meeting step goal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41879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 of 33 users active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200400"/>
            <a:ext cx="2651760" cy="1600200"/>
          </a:xfrm>
          <a:prstGeom prst="rect">
            <a:avLst/>
          </a:prstGeom>
          <a:solidFill>
            <a:srgbClr val="0D2818"/>
          </a:solidFill>
          <a:ln w="12700">
            <a:solidFill>
              <a:srgbClr val="52B788"/>
            </a:solidFill>
            <a:prstDash val="solid"/>
          </a:ln>
          <a:effectLst>
            <a:outerShdw blurRad="228600" dist="635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200400"/>
            <a:ext cx="265176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3375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6pm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263640" y="39136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activity hour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63640" y="41879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599 avg steps — post work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10896"/>
          </a:xfrm>
          <a:prstGeom prst="roundRect">
            <a:avLst>
              <a:gd name="adj" fmla="val 1470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1 /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Varies Significantly by Day of Week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603504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0" y="1234440"/>
            <a:ext cx="2331720" cy="36118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228600" dist="635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138988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20840" y="1847088"/>
            <a:ext cx="54864" cy="7498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85623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peak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2084832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active day at 8,979 steps — users exercise more when not at work.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2779776"/>
            <a:ext cx="54864" cy="749808"/>
          </a:xfrm>
          <a:prstGeom prst="rect">
            <a:avLst/>
          </a:prstGeom>
          <a:solidFill>
            <a:srgbClr val="C9848A"/>
          </a:solidFill>
          <a:ln w="12700">
            <a:solidFill>
              <a:srgbClr val="C984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78892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8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&amp; Friday dip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0" y="301752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activity days. Friday shows end-of-week fatigue. Sunday recovery day.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3712464"/>
            <a:ext cx="54864" cy="749808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72160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most sedentary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950208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 hrs sedentary on Mondays — start of work week effect.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3FF8CDD-4545-2579-517A-32A1BFEC4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302428"/>
            <a:ext cx="6089904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10896"/>
          </a:xfrm>
          <a:prstGeom prst="roundRect">
            <a:avLst>
              <a:gd name="adj" fmla="val 1470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2 /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Clear Activity Peaks Throughout the Day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603504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0" y="1234440"/>
            <a:ext cx="2331720" cy="36118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228600" dist="635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138988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20840" y="1783080"/>
            <a:ext cx="54864" cy="6217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7922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peak 8–10am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200253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active during morning commute and early work hours.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2532888"/>
            <a:ext cx="54864" cy="621792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54203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peak 12–2pm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0" y="275234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Mid-day activity surge — users walking during lunch break.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3282696"/>
            <a:ext cx="54864" cy="621792"/>
          </a:xfrm>
          <a:prstGeom prst="rect">
            <a:avLst/>
          </a:prstGeom>
          <a:solidFill>
            <a:srgbClr val="C9848A"/>
          </a:solidFill>
          <a:ln w="12700">
            <a:solidFill>
              <a:srgbClr val="C984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2918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8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peak 5–7pm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50215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activity at 6pm (599 steps). Post-work exercise.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4032504"/>
            <a:ext cx="54864" cy="621792"/>
          </a:xfrm>
          <a:prstGeom prst="rect">
            <a:avLst/>
          </a:prstGeom>
          <a:solidFill>
            <a:srgbClr val="8D8B87"/>
          </a:solidFill>
          <a:ln w="12700">
            <a:solidFill>
              <a:srgbClr val="8D8B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40416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3pm dip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425196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drops at 3pm — optimal time for Leaf movement reminders.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B55E91D-F459-725C-D338-40585A73A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302428"/>
            <a:ext cx="6089904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10896"/>
          </a:xfrm>
          <a:prstGeom prst="roundRect">
            <a:avLst>
              <a:gd name="adj" fmla="val 1470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3 /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 Sleep Enough But Sleep Quality is Poor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603504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0" y="1234440"/>
            <a:ext cx="2331720" cy="36118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228600" dist="635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138988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20840" y="1847088"/>
            <a:ext cx="54864" cy="7498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85623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7.0hrs avg sleep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2084832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meeting the 7hr minimum. Many nights will fall below.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2779776"/>
            <a:ext cx="54864" cy="749808"/>
          </a:xfrm>
          <a:prstGeom prst="rect">
            <a:avLst/>
          </a:prstGeom>
          <a:solidFill>
            <a:srgbClr val="C9848A"/>
          </a:solidFill>
          <a:ln w="12700">
            <a:solidFill>
              <a:srgbClr val="C984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78892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8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mins awake nightly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0" y="301752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lie awake 39 mins every night — poor wind-down routine.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3712464"/>
            <a:ext cx="54864" cy="749808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72160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Sunday paradox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950208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time in bed Sunday (8.4hrs) but worst quality — 50.8 mins awake. Anticipatory work-week stress.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121E52-90A3-FAFB-5F7A-0EC0D224E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302428"/>
            <a:ext cx="6089904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10896"/>
          </a:xfrm>
          <a:prstGeom prst="roundRect">
            <a:avLst>
              <a:gd name="adj" fmla="val 1470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4 /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78.7% of Users Are Not Meeting Their Step Goal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475488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0" y="1234440"/>
            <a:ext cx="3566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D3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0" y="1234440"/>
            <a:ext cx="64008" cy="7772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2893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15819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21.2%  ·  12,683 avg steps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2130552"/>
            <a:ext cx="3566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D3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0" y="2130552"/>
            <a:ext cx="64008" cy="77724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21854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Moderately Active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24780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33.3%  ·  8,685 avg steps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3026664"/>
            <a:ext cx="3566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D3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0" y="3026664"/>
            <a:ext cx="64008" cy="777240"/>
          </a:xfrm>
          <a:prstGeom prst="rect">
            <a:avLst/>
          </a:prstGeom>
          <a:solidFill>
            <a:srgbClr val="C9848A"/>
          </a:solidFill>
          <a:ln w="12700">
            <a:solidFill>
              <a:srgbClr val="C984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30815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Lightly Active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33741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24.2%  ·  6,437 avg steps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0" y="3922776"/>
            <a:ext cx="3566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D3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03520" y="3922776"/>
            <a:ext cx="64008" cy="777240"/>
          </a:xfrm>
          <a:prstGeom prst="rect">
            <a:avLst/>
          </a:prstGeom>
          <a:solidFill>
            <a:srgbClr val="8D8B87"/>
          </a:solidFill>
          <a:ln w="12700">
            <a:solidFill>
              <a:srgbClr val="8D8B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39776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42702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21.2%  ·  3,687 avg steps</a:t>
            </a:r>
            <a:endParaRPr lang="en-US" sz="11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A08AC6C-EBA0-A6EE-9899-3A6F469F9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1497"/>
            <a:ext cx="4937760" cy="29063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10896"/>
          </a:xfrm>
          <a:prstGeom prst="roundRect">
            <a:avLst>
              <a:gd name="adj" fmla="val 1470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5 /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Sedentary Behaviour Affects Every User Segment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603504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0" y="1234440"/>
            <a:ext cx="2331720" cy="36118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228600" dist="635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138988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20840" y="1847088"/>
            <a:ext cx="54864" cy="7498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85623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users: 16.2hrs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2084832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most active users sit for 16+ hours daily — sedentary problem crosses all segments.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2779776"/>
            <a:ext cx="54864" cy="749808"/>
          </a:xfrm>
          <a:prstGeom prst="rect">
            <a:avLst/>
          </a:prstGeom>
          <a:solidFill>
            <a:srgbClr val="C9848A"/>
          </a:solidFill>
          <a:ln w="12700">
            <a:solidFill>
              <a:srgbClr val="C984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78892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8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Sedentary users: 18.2hrs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0" y="301752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3/4 of the day completely inactive.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3712464"/>
            <a:ext cx="54864" cy="749808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72160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Lightly Active: 17.7hrs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950208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sedentary than Moderately Active despite similar activity labels.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8E08FF0-322E-578C-E815-DB33C1D88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302428"/>
            <a:ext cx="6089904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10896"/>
          </a:xfrm>
          <a:prstGeom prst="roundRect">
            <a:avLst>
              <a:gd name="adj" fmla="val 1470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6 /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Sedentary Minutes Dominate the Average Day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603504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0" y="1234440"/>
            <a:ext cx="2331720" cy="36118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228600" dist="635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138988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20840" y="1783080"/>
            <a:ext cx="2057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8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951.8 mins
</a:t>
            </a:r>
            <a:r>
              <a:rPr lang="en-US" sz="11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sedentary every day
That's 15.9 hours — 66% of a 24-hour day.
</a:t>
            </a: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active mins: </a:t>
            </a:r>
            <a:r>
              <a:rPr lang="en-US" sz="11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23.2/day
Users are close to the 20–30 min exercise recommendation but spend the rest of the day completely inactive.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6DEFAF-AB66-816D-84D4-438F60AF9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302428"/>
            <a:ext cx="6089904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Strategies for Bellabeat Leaf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1097280"/>
          </a:xfrm>
          <a:prstGeom prst="rect">
            <a:avLst/>
          </a:prstGeom>
          <a:solidFill>
            <a:srgbClr val="0D2818"/>
          </a:solidFill>
          <a:ln w="10160">
            <a:solidFill>
              <a:srgbClr val="C984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73152" cy="1097280"/>
          </a:xfrm>
          <a:prstGeom prst="rect">
            <a:avLst/>
          </a:prstGeom>
          <a:solidFill>
            <a:srgbClr val="C9848A"/>
          </a:solidFill>
          <a:ln w="12700">
            <a:solidFill>
              <a:srgbClr val="C984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71600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8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SEDENTARY BEHAVIOUR · HIGHEST PRIORITY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352" y="16002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Movement Reminders Throughout the Day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84708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sedentary for 15.9 hours daily — across ALL activity segments. Bellabeat Leaf should send personalised movement nudges timed to the 3pm activity dip and Monday sedentary spike. Messaging: 'You've been still for 2 hours — a 5-minute walk makes a difference.'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8412480" cy="1097280"/>
          </a:xfrm>
          <a:prstGeom prst="rect">
            <a:avLst/>
          </a:prstGeom>
          <a:solidFill>
            <a:srgbClr val="0D2818"/>
          </a:solidFill>
          <a:ln w="10160">
            <a:solidFill>
              <a:srgbClr val="D4A8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514600"/>
            <a:ext cx="73152" cy="109728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587752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SLEEP QUALITY · MEDIUM PRIORITY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281635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Wind-Down Programme for Better Sleep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3063240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spend 50.8 mins awake in bed on Sunday nights — the worst sleep quality of the week. Bellabeat app should trigger a guided Sunday evening wind-down routine (meditation, breathing exercises) targeting anticipatory work-week stress. Messaging: 'Prepare your mind for the week ahead.'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730752"/>
            <a:ext cx="8412480" cy="1097280"/>
          </a:xfrm>
          <a:prstGeom prst="rect">
            <a:avLst/>
          </a:prstGeom>
          <a:solidFill>
            <a:srgbClr val="0D2818"/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730752"/>
            <a:ext cx="73152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80390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USER SEGMENTATION · GROWTH OPPORTUNITY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0352" y="403250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Goals for Each Activity Segment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42793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78.7% of users are not meeting step goals but for very different reasons. Moderately Active users (33%) are closest to the goal and most convertible with small nudges. Bellabeat membership should offer segment-specific coaching: 'You're 1,315 steps from your goal — here's a 10-min walk route near you.'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Applying These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D3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64008" cy="1554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Bellabeat-specific user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FitBit data is from 2016 with only 33 users. Bellabeat should analyse its own app data — larger, more recent, and confirmed female demographic — for more reliable insights.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D3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417320"/>
            <a:ext cx="64008" cy="1554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54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the movement reminder timing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87452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notification timing at 3pm vs other hours to confirm the optimal nudge window. Measure step count increase in the hour following the notification.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D3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54680"/>
            <a:ext cx="64008" cy="1554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918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Sunday sleep problem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users about Sunday night sleep quality and stress levels. Validate the anticipatory stress hypothesis before building the wind-down feature.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1546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D3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154680"/>
            <a:ext cx="64008" cy="1554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2918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segment-aware onboarding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61188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new Bellabeat Leaf users into activity segments during onboarding and immediately personalise their goals, reminders and coaching content.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solidFill>
            <a:srgbClr val="C9848A"/>
          </a:solidFill>
          <a:ln w="12700">
            <a:solidFill>
              <a:srgbClr val="C984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2286000"/>
            <a:ext cx="3200400" cy="3200400"/>
          </a:xfrm>
          <a:prstGeom prst="ellipse">
            <a:avLst/>
          </a:prstGeom>
          <a:solidFill>
            <a:srgbClr val="52B788">
              <a:alpha val="12000"/>
            </a:srgbClr>
          </a:solidFill>
          <a:ln w="12700">
            <a:solidFill>
              <a:srgbClr val="52B788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C9848A">
              <a:alpha val="12000"/>
            </a:srgbClr>
          </a:solidFill>
          <a:ln w="12700">
            <a:solidFill>
              <a:srgbClr val="C9848A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Francis Muthukkalai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2834640"/>
            <a:ext cx="3291840" cy="0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992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Bellabeat Smart Device Analysis  ·  Google Data Analytics Capstone Project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315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Tableau: public.tableau.com/app/profile/peter.francis.muthukkalai  ·  BigQuery: Google Cloud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1221</Words>
  <Application>Microsoft Office PowerPoint</Application>
  <PresentationFormat>On-screen Show (16:9)</PresentationFormat>
  <Paragraphs>167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Bellabeat Smart Device Analysis</dc:title>
  <dc:subject>PptxGenJS Presentation</dc:subject>
  <dc:creator>Peter Francis Muthukkalai</dc:creator>
  <cp:lastModifiedBy>Peter Muthukkalai</cp:lastModifiedBy>
  <cp:revision>6</cp:revision>
  <dcterms:created xsi:type="dcterms:W3CDTF">2026-03-31T22:24:07Z</dcterms:created>
  <dcterms:modified xsi:type="dcterms:W3CDTF">2026-04-01T23:30:41Z</dcterms:modified>
</cp:coreProperties>
</file>